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Bahnschrift Light" panose="020B0502040204020203" pitchFamily="34" charset="0"/>
      <p:regular r:id="rId14"/>
    </p:embeddedFont>
    <p:embeddedFont>
      <p:font typeface="Roboto" panose="02000000000000000000" pitchFamily="2" charset="0"/>
      <p:regular r:id="rId15"/>
      <p:bold r:id="rId16"/>
    </p:embeddedFont>
    <p:embeddedFont>
      <p:font typeface="Roboto Bold" panose="02000000000000000000" charset="0"/>
      <p:regular r:id="rId17"/>
    </p:embeddedFont>
    <p:embeddedFont>
      <p:font typeface="Roboto Light" panose="02000000000000000000" pitchFamily="2" charset="0"/>
      <p:regular r:id="rId18"/>
    </p:embeddedFont>
    <p:embeddedFont>
      <p:font typeface="Roboto Medium" panose="02000000000000000000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87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4008"/>
            <a:ext cx="6296860" cy="128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Student Mental Health Analysis EDA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790616"/>
            <a:ext cx="6296860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Exploratory Data Analysis and Machine Learning Approach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mental health is increasingly critical as academic pressure, social change, and uncertainty affect wellbeing and performance. Early detection of risk factors can support timely intervention, while data-driven analysis helps identify patterns that inform better student support strategies.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429000"/>
            <a:ext cx="3065783" cy="1508761"/>
          </a:xfrm>
          <a:prstGeom prst="roundRect">
            <a:avLst>
              <a:gd name="adj" fmla="val 719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r>
              <a:rPr lang="en-US" sz="1500" b="1" u="sng" dirty="0">
                <a:solidFill>
                  <a:schemeClr val="bg1"/>
                </a:solidFill>
              </a:rPr>
              <a:t>Team:-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HARIKA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LIKITHA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NIKHIL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JAGAN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ATHISH</a:t>
            </a:r>
          </a:p>
        </p:txBody>
      </p:sp>
      <p:sp>
        <p:nvSpPr>
          <p:cNvPr id="6" name="Text 3"/>
          <p:cNvSpPr/>
          <p:nvPr/>
        </p:nvSpPr>
        <p:spPr>
          <a:xfrm>
            <a:off x="5398655" y="4049160"/>
            <a:ext cx="2722494" cy="285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98655" y="4334882"/>
            <a:ext cx="2722494" cy="285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30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36082" y="4049161"/>
            <a:ext cx="2722494" cy="328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82" y="4377191"/>
            <a:ext cx="2722494" cy="39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27010" y="5091769"/>
            <a:ext cx="6296860" cy="965597"/>
          </a:xfrm>
          <a:prstGeom prst="roundRect">
            <a:avLst>
              <a:gd name="adj" fmla="val 719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05005" y="5294300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u="sng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Department</a:t>
            </a:r>
            <a:endParaRPr lang="en-US" sz="1700" b="1" u="sng" dirty="0"/>
          </a:p>
        </p:txBody>
      </p:sp>
      <p:sp>
        <p:nvSpPr>
          <p:cNvPr id="13" name="Text 10"/>
          <p:cNvSpPr/>
          <p:nvPr/>
        </p:nvSpPr>
        <p:spPr>
          <a:xfrm>
            <a:off x="5334001" y="5558916"/>
            <a:ext cx="6024576" cy="42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</a:t>
            </a:r>
            <a:r>
              <a:rPr lang="en-US" sz="1600" b="1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BS.c</a:t>
            </a: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ARTIFICIAL INTELLIGENCE 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]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2F30AE-6167-F46D-6879-7CFFCE65F71F}"/>
              </a:ext>
            </a:extLst>
          </p:cNvPr>
          <p:cNvSpPr/>
          <p:nvPr/>
        </p:nvSpPr>
        <p:spPr>
          <a:xfrm>
            <a:off x="10906624" y="6503436"/>
            <a:ext cx="1247192" cy="335902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504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2180" y="1161653"/>
            <a:ext cx="5461657" cy="5061744"/>
          </a:xfrm>
          <a:prstGeom prst="roundRect">
            <a:avLst>
              <a:gd name="adj" fmla="val 1764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6201" y="1254621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Objectives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733" y="1559074"/>
            <a:ext cx="186031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9316" y="1552972"/>
            <a:ext cx="48105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student mental health survey data to uncover hidden patterns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733" y="2123430"/>
            <a:ext cx="186031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9316" y="2117328"/>
            <a:ext cx="48105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Exploratory Data Analysis (EDA) across key demographic variables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733" y="2687786"/>
            <a:ext cx="186031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9316" y="2681684"/>
            <a:ext cx="48105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patterns and risk factors affecting student depression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733" y="3252143"/>
            <a:ext cx="186031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9316" y="3246041"/>
            <a:ext cx="48105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Decision Tree model to predict depression outcomes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253502" y="125462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Workflow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3502" y="1552972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6253502" y="1751013"/>
            <a:ext cx="528306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6" name="Text 10"/>
          <p:cNvSpPr/>
          <p:nvPr/>
        </p:nvSpPr>
        <p:spPr>
          <a:xfrm>
            <a:off x="6253502" y="1838424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Import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253502" y="2125166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raw survey dataset into the analysis environment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253502" y="2484735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253502" y="2682776"/>
            <a:ext cx="528306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0" name="Text 14"/>
          <p:cNvSpPr/>
          <p:nvPr/>
        </p:nvSpPr>
        <p:spPr>
          <a:xfrm>
            <a:off x="6253502" y="277018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53502" y="3056930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missing values, duplicates, and type conversions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253502" y="3416498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253502" y="3614539"/>
            <a:ext cx="528306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4" name="Text 18"/>
          <p:cNvSpPr/>
          <p:nvPr/>
        </p:nvSpPr>
        <p:spPr>
          <a:xfrm>
            <a:off x="6253502" y="370195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EDA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53502" y="3988693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distributions and relationships among variables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253502" y="4348262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253502" y="4546302"/>
            <a:ext cx="528306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8" name="Text 22"/>
          <p:cNvSpPr/>
          <p:nvPr/>
        </p:nvSpPr>
        <p:spPr>
          <a:xfrm>
            <a:off x="6253502" y="4633714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Tree Model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253502" y="4920456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and validate classification model using rpart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253502" y="5280025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05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253502" y="5478066"/>
            <a:ext cx="528306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32" name="Text 26"/>
          <p:cNvSpPr/>
          <p:nvPr/>
        </p:nvSpPr>
        <p:spPr>
          <a:xfrm>
            <a:off x="6253502" y="556547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253502" y="5852220"/>
            <a:ext cx="528306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model to test data and evaluate performance</a:t>
            </a:r>
            <a:endParaRPr lang="en-US" sz="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6768A6-AAC7-F96B-1685-9D9A18CD3124}"/>
              </a:ext>
            </a:extLst>
          </p:cNvPr>
          <p:cNvSpPr/>
          <p:nvPr/>
        </p:nvSpPr>
        <p:spPr>
          <a:xfrm>
            <a:off x="10982960" y="6532880"/>
            <a:ext cx="1198880" cy="30480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26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&amp;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63340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dataset comprises student mental health survey responses capturing demographic, academic, and psychological variables used to predict depression status.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7867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 Features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04405"/>
            <a:ext cx="5273047" cy="805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978" y="2055713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2368153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age range across undergraduate cohorts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15729"/>
            <a:ext cx="5273047" cy="8055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978" y="2967037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Gender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8978" y="3279477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/ Female classification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27053"/>
            <a:ext cx="5273047" cy="8055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8978" y="3878362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Course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88978" y="4190802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 of study / academic discipline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38377"/>
            <a:ext cx="5273047" cy="8055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8978" y="4789686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Year of Study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88978" y="5102126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academic year of enrollment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263523" y="157867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Psychological &amp; Academic Features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1904405"/>
            <a:ext cx="5273047" cy="80555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1026" y="2055713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CGPA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91026" y="2368153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Cumulative Grade Point Average — academic performance indicator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2815729"/>
            <a:ext cx="5273047" cy="80555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91026" y="2967037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Marital Status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491026" y="3279477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/ Married — social context variable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3727053"/>
            <a:ext cx="5273047" cy="80555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91026" y="3878362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Anxiety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491026" y="4190802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Self-reported anxiety status — Yes / No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4638377"/>
            <a:ext cx="5273047" cy="805557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491026" y="4789686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Panic Attacks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6491026" y="5102126"/>
            <a:ext cx="48942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History of panic attacks — Yes / No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661475" y="5562997"/>
            <a:ext cx="10875096" cy="637580"/>
          </a:xfrm>
          <a:prstGeom prst="roundRect">
            <a:avLst>
              <a:gd name="adj" fmla="val 8716"/>
            </a:avLst>
          </a:prstGeom>
          <a:solidFill>
            <a:srgbClr val="182567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19244" y="5726468"/>
            <a:ext cx="339467" cy="27162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737360" y="5694661"/>
            <a:ext cx="9666955" cy="377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 Variable: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Depression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Binary classification: Yes / No. This is the outcome the Decision Tree model is trained to predict.</a:t>
            </a: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83EC32-5216-6E0A-DB20-CAEA7E4AC9A2}"/>
              </a:ext>
            </a:extLst>
          </p:cNvPr>
          <p:cNvSpPr/>
          <p:nvPr/>
        </p:nvSpPr>
        <p:spPr>
          <a:xfrm>
            <a:off x="11064240" y="6532880"/>
            <a:ext cx="1075565" cy="30480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48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Preprocessing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27646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analysis, the raw dataset was cleaned and structured to ensure data quality and model reliability.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789509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Preprocessing Steps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2143423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208" y="2169815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33" y="2191742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Missing Value Treatment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33" y="2530773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all columns for null or blank entries and applied appropriate imputation or removal strategies to maintain dataset integrity.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3185815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208" y="3212207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97233" y="3234134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Duplicate Record Removal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33" y="3573165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and removed duplicate survey responses to prevent bias in analysis and model training.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1475" y="4228207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208" y="425459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97233" y="4276527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Categorical Encoding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33" y="4615557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text-based categorical variables (Gender, Course, Depression, etc.) into factor types suitable for R-based machine learning.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5270599"/>
            <a:ext cx="316301" cy="316309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208" y="529699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97233" y="5318919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Clean Dataset Preparation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33" y="5657949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Finalized a structured, clean dataset ready for EDA visualization and Decision Tree classification.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73643" y="1789509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Preprocessing Output</a:t>
            </a:r>
            <a:endParaRPr lang="en-US" sz="13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43" y="2143423"/>
            <a:ext cx="4473463" cy="279112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731A5D5-1C86-B6D3-6B17-0D9EE98DFA66}"/>
              </a:ext>
            </a:extLst>
          </p:cNvPr>
          <p:cNvSpPr/>
          <p:nvPr/>
        </p:nvSpPr>
        <p:spPr>
          <a:xfrm>
            <a:off x="10972800" y="6583680"/>
            <a:ext cx="1167005" cy="208062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680"/>
            <a:ext cx="10868745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Exploratory Data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878780"/>
            <a:ext cx="1147833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 helps identify trends, distributions, and relationships among variables — revealing which factors most strongly associate with student depression.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24446"/>
            <a:ext cx="5315611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1475" y="3707209"/>
            <a:ext cx="53156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61476" y="1091683"/>
            <a:ext cx="5315611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Depression vs Anxiety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2770"/>
            <a:ext cx="3527969" cy="21077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978" y="3646450"/>
            <a:ext cx="4642150" cy="4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grouped bar chart reveals a strong co-occurrence of anxiety and depression — students reporting anxiety are significantly more likely to also report depression.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61475" y="4092476"/>
            <a:ext cx="10868745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CGPA Distribution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08276"/>
            <a:ext cx="2715351" cy="17504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54524" y="4382195"/>
            <a:ext cx="659153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/>
              <a:t>f</a:t>
            </a:r>
          </a:p>
        </p:txBody>
      </p:sp>
      <p:sp>
        <p:nvSpPr>
          <p:cNvPr id="13" name="Text 8"/>
          <p:cNvSpPr/>
          <p:nvPr/>
        </p:nvSpPr>
        <p:spPr>
          <a:xfrm>
            <a:off x="713670" y="6186276"/>
            <a:ext cx="1147833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CGPA distribution across the student population highlights concentration in the 3.00–3.49 range, with lower CGPA bands showing elevated mental health risk indicators.</a:t>
            </a:r>
            <a:endParaRPr lang="en-US" sz="1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A155C8-309C-571A-736F-709A06B58124}"/>
              </a:ext>
            </a:extLst>
          </p:cNvPr>
          <p:cNvSpPr/>
          <p:nvPr/>
        </p:nvSpPr>
        <p:spPr>
          <a:xfrm>
            <a:off x="11003280" y="6563360"/>
            <a:ext cx="1136525" cy="27432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6B63AE-12AD-7B45-0BDE-DEB57DB0F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640" y="1200497"/>
            <a:ext cx="5422650" cy="27543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91C06E-E51F-1FB6-D7C7-C097382B9A69}"/>
              </a:ext>
            </a:extLst>
          </p:cNvPr>
          <p:cNvSpPr txBox="1"/>
          <p:nvPr/>
        </p:nvSpPr>
        <p:spPr>
          <a:xfrm>
            <a:off x="6400640" y="4116010"/>
            <a:ext cx="553321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The grouped bars indicates the year of study of the students with their backlogs are there in the same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35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Additional EDA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354435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Further exploratory analysis examines course enrollment patterns and treatment-seeking behavior among students.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6976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Course Distribution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95500"/>
            <a:ext cx="4218378" cy="2736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950619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 and BCS students represent the largest cohorts in the dataset, providing a strong sample base for course-level mental health comparisons.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523" y="176976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Students Seeking Specialist Treatment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523" y="2095500"/>
            <a:ext cx="4218378" cy="26706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523" y="4885234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notable proportion of students have not sought specialist treatment despite reporting mental health symptoms — highlighting a critical gap in campus mental health service utilization.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61475" y="5671046"/>
            <a:ext cx="10868745" cy="457597"/>
          </a:xfrm>
          <a:prstGeom prst="roundRect">
            <a:avLst>
              <a:gd name="adj" fmla="val 12144"/>
            </a:avLst>
          </a:prstGeom>
          <a:solidFill>
            <a:srgbClr val="02234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5853906"/>
            <a:ext cx="165294" cy="1322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1280" y="5809853"/>
            <a:ext cx="10916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EDA findings directly inform feature selection for the Decision Tree model — particularly the strong signal from anxiety status and CGPA on depression outcomes.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E4733D-C95E-A30E-1EEA-C128E5E8DB29}"/>
              </a:ext>
            </a:extLst>
          </p:cNvPr>
          <p:cNvSpPr/>
          <p:nvPr/>
        </p:nvSpPr>
        <p:spPr>
          <a:xfrm>
            <a:off x="10952480" y="6532880"/>
            <a:ext cx="1187325" cy="30480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784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Why Decision Tree?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647230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Decision Tree algorithm was selected as the classification method due to its unique advantages for mental health prediction in an academic context.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060277"/>
            <a:ext cx="3523368" cy="2017911"/>
          </a:xfrm>
          <a:prstGeom prst="roundRect">
            <a:avLst>
              <a:gd name="adj" fmla="val 32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884" y="2223691"/>
            <a:ext cx="471277" cy="471289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60" y="2353270"/>
            <a:ext cx="212025" cy="212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884" y="2844205"/>
            <a:ext cx="31965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Interpretable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4884" y="3179266"/>
            <a:ext cx="319655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understand and explain to non-technical stakeholders such as university counselors and administrators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4064" y="2060277"/>
            <a:ext cx="3523467" cy="2017911"/>
          </a:xfrm>
          <a:prstGeom prst="roundRect">
            <a:avLst>
              <a:gd name="adj" fmla="val 32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7473" y="2223691"/>
            <a:ext cx="471277" cy="471289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050" y="2353270"/>
            <a:ext cx="212025" cy="2120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7473" y="2844205"/>
            <a:ext cx="31966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Flexible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97473" y="3179266"/>
            <a:ext cx="3196649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both categorical variables (Gender, Anxiety) and numerical variables (CGPA, Age) without preprocessing transformations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06753" y="2060277"/>
            <a:ext cx="3523368" cy="2017911"/>
          </a:xfrm>
          <a:prstGeom prst="roundRect">
            <a:avLst>
              <a:gd name="adj" fmla="val 32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70162" y="2223691"/>
            <a:ext cx="471277" cy="471289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9738" y="2353270"/>
            <a:ext cx="212025" cy="2120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0162" y="2844205"/>
            <a:ext cx="31965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70162" y="3179266"/>
            <a:ext cx="319655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identifies and ranks the most important risk factors contributing to student depression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61475" y="4227413"/>
            <a:ext cx="5359663" cy="1772741"/>
          </a:xfrm>
          <a:prstGeom prst="roundRect">
            <a:avLst>
              <a:gd name="adj" fmla="val 372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4884" y="4390827"/>
            <a:ext cx="471277" cy="471289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460" y="4520406"/>
            <a:ext cx="212025" cy="2120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4884" y="5011341"/>
            <a:ext cx="50328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Multi-variable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4884" y="5346402"/>
            <a:ext cx="50328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complex interactions and relationships between multiple student characteristics simultaneously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70359" y="4227413"/>
            <a:ext cx="5359762" cy="1772741"/>
          </a:xfrm>
          <a:prstGeom prst="roundRect">
            <a:avLst>
              <a:gd name="adj" fmla="val 372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33768" y="4390827"/>
            <a:ext cx="471277" cy="471289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3345" y="4520406"/>
            <a:ext cx="212025" cy="2120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33768" y="5011341"/>
            <a:ext cx="50329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Rule-based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333768" y="5346402"/>
            <a:ext cx="50329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clear IF–THEN decision rules that can be directly applied as screening criteria by university support teams</a:t>
            </a:r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A7576A-ED60-662F-B50E-5FE3A4FDF6D0}"/>
              </a:ext>
            </a:extLst>
          </p:cNvPr>
          <p:cNvSpPr/>
          <p:nvPr/>
        </p:nvSpPr>
        <p:spPr>
          <a:xfrm>
            <a:off x="10901680" y="6583680"/>
            <a:ext cx="1238125" cy="24517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1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Tree Model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2125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 Configuration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265759"/>
            <a:ext cx="2533686" cy="1321693"/>
          </a:xfrm>
          <a:prstGeom prst="roundRect">
            <a:avLst>
              <a:gd name="adj" fmla="val 5256"/>
            </a:avLst>
          </a:prstGeom>
          <a:solidFill>
            <a:srgbClr val="000018">
              <a:alpha val="95000"/>
            </a:srgbClr>
          </a:solidFill>
          <a:ln w="1905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2450108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Train-Test Split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2873871"/>
            <a:ext cx="2164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70%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Training Data / </a:t>
            </a:r>
            <a:r>
              <a:rPr lang="en-US" sz="13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30%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Testing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265759"/>
            <a:ext cx="2533686" cy="1321693"/>
          </a:xfrm>
          <a:prstGeom prst="roundRect">
            <a:avLst>
              <a:gd name="adj" fmla="val 5256"/>
            </a:avLst>
          </a:prstGeom>
          <a:solidFill>
            <a:srgbClr val="000018">
              <a:alpha val="95000"/>
            </a:srgbClr>
          </a:solidFill>
          <a:ln w="19050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4799" y="2450108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44799" y="2873871"/>
            <a:ext cx="2164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Tree using </a:t>
            </a:r>
            <a:r>
              <a:rPr lang="en-US" sz="13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rpart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package in 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752751"/>
            <a:ext cx="2533686" cy="1586309"/>
          </a:xfrm>
          <a:prstGeom prst="roundRect">
            <a:avLst>
              <a:gd name="adj" fmla="val 4379"/>
            </a:avLst>
          </a:prstGeom>
          <a:solidFill>
            <a:srgbClr val="000018">
              <a:alpha val="95000"/>
            </a:srgbClr>
          </a:solidFill>
          <a:ln w="1905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19" y="393709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 Variable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19" y="4360863"/>
            <a:ext cx="21649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Depression — Binary: </a:t>
            </a:r>
            <a:r>
              <a:rPr lang="en-US" sz="13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Yes / 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0455" y="3752751"/>
            <a:ext cx="2533686" cy="1586309"/>
          </a:xfrm>
          <a:prstGeom prst="roundRect">
            <a:avLst>
              <a:gd name="adj" fmla="val 4379"/>
            </a:avLst>
          </a:prstGeom>
          <a:solidFill>
            <a:srgbClr val="000018">
              <a:alpha val="95000"/>
            </a:srgbClr>
          </a:solidFill>
          <a:ln w="1905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4799" y="393709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Prediction Basis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4799" y="4360863"/>
            <a:ext cx="21649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Depression predicted using student demographic and psychological characteristics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3904" y="1593951"/>
            <a:ext cx="5232666" cy="38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Tree Structure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2183765"/>
            <a:ext cx="5232666" cy="265433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864383" y="2491958"/>
            <a:ext cx="1196660" cy="14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864383" y="2684093"/>
            <a:ext cx="2419913" cy="11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Predicted target label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864383" y="3092962"/>
            <a:ext cx="1196660" cy="14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 under 21?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864383" y="3285098"/>
            <a:ext cx="2419913" cy="11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 branch outcome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864383" y="3693967"/>
            <a:ext cx="1196660" cy="14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CGPA above 3.0?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864383" y="3886102"/>
            <a:ext cx="2419913" cy="11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branch outcome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869701" y="4294971"/>
            <a:ext cx="1196661" cy="14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Anxiety?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869701" y="4487107"/>
            <a:ext cx="2419913" cy="11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decision node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03904" y="5024140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tree uses Anxiety as the primary split, followed by CGPA and Age as secondary decision nodes, producing leaf nodes classified as Depressed or Not Depressed.</a:t>
            </a:r>
            <a:endParaRPr lang="en-US" sz="13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8B7538-6D9F-CDF4-F5C2-2EDE3A085B6A}"/>
              </a:ext>
            </a:extLst>
          </p:cNvPr>
          <p:cNvSpPr/>
          <p:nvPr/>
        </p:nvSpPr>
        <p:spPr>
          <a:xfrm>
            <a:off x="10820400" y="6593840"/>
            <a:ext cx="1351280" cy="203804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18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 Evaluation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99567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performance is assessed using a Confusion Matrix applied to the 30% held-out test dataset, measuring the accuracy of depression classification.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861840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Evaluation Methodology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1475" y="2275284"/>
            <a:ext cx="353508" cy="35351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360" y="2304703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64204" y="2329259"/>
            <a:ext cx="473995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4204" y="2724051"/>
            <a:ext cx="4739958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Compares predicted depression labels against actual ground-truth labels from the test set, revealing True Positives, True Negatives, False Positives, and False Negatives.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475" y="3758009"/>
            <a:ext cx="353508" cy="35351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0360" y="3787428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164204" y="3811984"/>
            <a:ext cx="473995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Accuracy Calculation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64204" y="4206776"/>
            <a:ext cx="4739958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correct predictions computed as </a:t>
            </a:r>
            <a:r>
              <a:rPr lang="en-US" sz="12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(TP + TN) / Total</a:t>
            </a: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measures the proportion of students correctly classified by the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5240734"/>
            <a:ext cx="353508" cy="353516"/>
          </a:xfrm>
          <a:prstGeom prst="roundRect">
            <a:avLst>
              <a:gd name="adj" fmla="val 1866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360" y="5270153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164204" y="5294709"/>
            <a:ext cx="473995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Test Dataset Prediction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4204" y="5689501"/>
            <a:ext cx="473995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applied to the 30% held-out test data to simulate real-world prediction performance on unseen student records.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3883" y="1861840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93883" y="2275284"/>
            <a:ext cx="5242687" cy="1335980"/>
          </a:xfrm>
          <a:prstGeom prst="roundRect">
            <a:avLst>
              <a:gd name="adj" fmla="val 4940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3883" y="2721670"/>
            <a:ext cx="5242687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93883" y="3164880"/>
            <a:ext cx="5242687" cy="982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8486" y="2275284"/>
            <a:ext cx="9820" cy="133598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04353" y="2275284"/>
            <a:ext cx="9820" cy="133598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00332" y="2281634"/>
            <a:ext cx="1778154" cy="440035"/>
          </a:xfrm>
          <a:prstGeom prst="rect">
            <a:avLst/>
          </a:prstGeom>
          <a:solidFill>
            <a:srgbClr val="243799"/>
          </a:solidFill>
          <a:ln/>
        </p:spPr>
      </p:sp>
      <p:sp>
        <p:nvSpPr>
          <p:cNvPr id="24" name="Text 22"/>
          <p:cNvSpPr/>
          <p:nvPr/>
        </p:nvSpPr>
        <p:spPr>
          <a:xfrm>
            <a:off x="6457392" y="2377480"/>
            <a:ext cx="207044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78486" y="2281634"/>
            <a:ext cx="1725867" cy="440035"/>
          </a:xfrm>
          <a:prstGeom prst="rect">
            <a:avLst/>
          </a:prstGeom>
          <a:solidFill>
            <a:srgbClr val="243799"/>
          </a:solidFill>
          <a:ln/>
        </p:spPr>
      </p:sp>
      <p:sp>
        <p:nvSpPr>
          <p:cNvPr id="26" name="Text 24"/>
          <p:cNvSpPr/>
          <p:nvPr/>
        </p:nvSpPr>
        <p:spPr>
          <a:xfrm>
            <a:off x="8238720" y="2377480"/>
            <a:ext cx="201498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Predicted: 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04353" y="2281634"/>
            <a:ext cx="1725867" cy="440035"/>
          </a:xfrm>
          <a:prstGeom prst="rect">
            <a:avLst/>
          </a:prstGeom>
          <a:solidFill>
            <a:srgbClr val="243799"/>
          </a:solidFill>
          <a:ln/>
        </p:spPr>
      </p:sp>
      <p:sp>
        <p:nvSpPr>
          <p:cNvPr id="28" name="Text 26"/>
          <p:cNvSpPr/>
          <p:nvPr/>
        </p:nvSpPr>
        <p:spPr>
          <a:xfrm>
            <a:off x="9964587" y="2377480"/>
            <a:ext cx="201815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Predicted: Yes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57392" y="2820690"/>
            <a:ext cx="207044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Actual: 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38720" y="2820690"/>
            <a:ext cx="201498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A6E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True Negative (TN)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4587" y="2820690"/>
            <a:ext cx="201815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Positive (FP)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57392" y="3263900"/>
            <a:ext cx="207044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Actual: Yes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38720" y="3263900"/>
            <a:ext cx="201498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Negative (FN)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4587" y="3263900"/>
            <a:ext cx="201815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A6E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True Positive (TP)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93883" y="3779143"/>
            <a:ext cx="5242687" cy="837406"/>
          </a:xfrm>
          <a:prstGeom prst="roundRect">
            <a:avLst>
              <a:gd name="adj" fmla="val 7880"/>
            </a:avLst>
          </a:prstGeom>
          <a:solidFill>
            <a:srgbClr val="182567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4009330"/>
            <a:ext cx="196349" cy="157063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04351" y="3952677"/>
            <a:ext cx="45751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TN, FP, FN, TP cells with actual numeric values from your model output to compute final classification accuracy.</a:t>
            </a:r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E153BC-5EE9-4A2E-E8E6-0F38C164FF69}"/>
              </a:ext>
            </a:extLst>
          </p:cNvPr>
          <p:cNvSpPr/>
          <p:nvPr/>
        </p:nvSpPr>
        <p:spPr>
          <a:xfrm>
            <a:off x="11084560" y="6502400"/>
            <a:ext cx="1055245" cy="33528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895"/>
            <a:ext cx="10868745" cy="2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67966"/>
            <a:ext cx="11478330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combined EDA and Decision Tree analysis produced four critical insights into student mental health risk factors.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61475" y="1051123"/>
            <a:ext cx="5406691" cy="628650"/>
          </a:xfrm>
          <a:prstGeom prst="roundRect">
            <a:avLst>
              <a:gd name="adj" fmla="val 639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68" y="1153220"/>
            <a:ext cx="5202504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Anxiety → Depression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3568" y="1335980"/>
            <a:ext cx="5202504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Anxiety is the </a:t>
            </a:r>
            <a:r>
              <a:rPr lang="en-US" sz="7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strongest predictor</a:t>
            </a: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depression among students — serving as the root node in the Decision Tree and the primary risk signal in EDA visualizations.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123529" y="1051123"/>
            <a:ext cx="5406691" cy="628650"/>
          </a:xfrm>
          <a:prstGeom prst="roundRect">
            <a:avLst>
              <a:gd name="adj" fmla="val 639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5622" y="1153220"/>
            <a:ext cx="5202504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CGPA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25622" y="1335980"/>
            <a:ext cx="5202504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academic performance (CGPA) correlates strongly with higher mental health risk — students with declining grades are significantly more vulnerable to depression.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1475" y="1735138"/>
            <a:ext cx="5406691" cy="628650"/>
          </a:xfrm>
          <a:prstGeom prst="roundRect">
            <a:avLst>
              <a:gd name="adj" fmla="val 639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68" y="1837234"/>
            <a:ext cx="5202504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At-Risk Group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3568" y="2019995"/>
            <a:ext cx="5202504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undergraduate students — particularly those in their first and second years — represent the </a:t>
            </a:r>
            <a:r>
              <a:rPr lang="en-US" sz="7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most affected demographic</a:t>
            </a: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mental health indicators.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123529" y="1735138"/>
            <a:ext cx="5406691" cy="628650"/>
          </a:xfrm>
          <a:prstGeom prst="roundRect">
            <a:avLst>
              <a:gd name="adj" fmla="val 639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5622" y="1837234"/>
            <a:ext cx="5202504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 Insight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25622" y="2019995"/>
            <a:ext cx="5202504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Decision Tree successfully identifies high-risk student categories using interpretable IF–THEN rules, enabling practical early intervention by university support services.</a:t>
            </a:r>
            <a:endParaRPr lang="en-US" sz="7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26097"/>
            <a:ext cx="7064595" cy="397390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0AA412E-9FD4-8014-82E8-5E7372216B70}"/>
              </a:ext>
            </a:extLst>
          </p:cNvPr>
          <p:cNvSpPr/>
          <p:nvPr/>
        </p:nvSpPr>
        <p:spPr>
          <a:xfrm>
            <a:off x="10830560" y="6379686"/>
            <a:ext cx="1309245" cy="457994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40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 &amp;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60274" y="1252835"/>
            <a:ext cx="5465328" cy="3707904"/>
          </a:xfrm>
          <a:prstGeom prst="roundRect">
            <a:avLst>
              <a:gd name="adj" fmla="val 2730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0765" y="1372295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1733153"/>
            <a:ext cx="210835" cy="210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7556" y="1726208"/>
            <a:ext cx="472755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 revealed important mental health patterns across student demographics, with anxiety and CGPA emerging as dominant variables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2400796"/>
            <a:ext cx="210835" cy="210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7556" y="2393851"/>
            <a:ext cx="472755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Tree provided accurate and interpretable predictions of depression, generating actionable classification rules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3068439"/>
            <a:ext cx="210835" cy="210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7556" y="3061494"/>
            <a:ext cx="472755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can help universities identify at-risk students early — before mental health conditions escalate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3736082"/>
            <a:ext cx="210835" cy="210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7556" y="3729137"/>
            <a:ext cx="472755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Findings support the design of improved, data-driven mental health support programs on campus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273643" y="1372295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Recommendations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3643" y="1726208"/>
            <a:ext cx="2571686" cy="149036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09381" y="1885752"/>
            <a:ext cx="217640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Early Screening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509381" y="2224782"/>
            <a:ext cx="2176408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the Decision Tree model as a lightweight screening tool during student enrollment and academic reviews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785" y="1726208"/>
            <a:ext cx="2571785" cy="149036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200523" y="1885752"/>
            <a:ext cx="217650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Targeted Counseling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9200523" y="2224782"/>
            <a:ext cx="2176507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counseling resources for students with low CGPA and reported anxiety — the highest-risk profile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3643" y="3336032"/>
            <a:ext cx="2571686" cy="149036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09381" y="3495576"/>
            <a:ext cx="217640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Awareness Programs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6509381" y="3834606"/>
            <a:ext cx="2176408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mental health awareness campaigns specifically targeting first and second year undergraduates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785" y="3336032"/>
            <a:ext cx="2571785" cy="149036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9200523" y="3495576"/>
            <a:ext cx="217650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9200523" y="3834606"/>
            <a:ext cx="217650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Retrain the model periodically with updated survey data to maintain prediction accuracy over time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1" y="5404346"/>
            <a:ext cx="11530220" cy="561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Thank You</a:t>
            </a:r>
            <a:endParaRPr lang="en-US" sz="3600" dirty="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872309" y="5673030"/>
            <a:ext cx="1065791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96DABD-903C-7CBC-0E6D-0D6901CD4577}"/>
              </a:ext>
            </a:extLst>
          </p:cNvPr>
          <p:cNvSpPr/>
          <p:nvPr/>
        </p:nvSpPr>
        <p:spPr>
          <a:xfrm>
            <a:off x="10871200" y="6553200"/>
            <a:ext cx="1300480" cy="284480"/>
          </a:xfrm>
          <a:prstGeom prst="rect">
            <a:avLst/>
          </a:prstGeom>
          <a:solidFill>
            <a:srgbClr val="000017"/>
          </a:solidFill>
          <a:ln>
            <a:solidFill>
              <a:srgbClr val="0000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1240</Words>
  <Application>Microsoft Office PowerPoint</Application>
  <PresentationFormat>Widescreen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</vt:lpstr>
      <vt:lpstr>Roboto Medium</vt:lpstr>
      <vt:lpstr>Arial</vt:lpstr>
      <vt:lpstr>Roboto Bold</vt:lpstr>
      <vt:lpstr>Bahnschrift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jagan dhusi</cp:lastModifiedBy>
  <cp:revision>6</cp:revision>
  <dcterms:created xsi:type="dcterms:W3CDTF">2026-07-24T16:52:34Z</dcterms:created>
  <dcterms:modified xsi:type="dcterms:W3CDTF">2026-07-25T08:40:23Z</dcterms:modified>
</cp:coreProperties>
</file>